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Libre Baskerville"/>
      <p:regular r:id="rId17"/>
    </p:embeddedFont>
    <p:embeddedFont>
      <p:font typeface="Libre Baskerville"/>
      <p:regular r:id="rId18"/>
    </p:embeddedFont>
    <p:embeddedFont>
      <p:font typeface="Libre Baskerville"/>
      <p:regular r:id="rId19"/>
    </p:embeddedFont>
    <p:embeddedFont>
      <p:font typeface="Libre Baskerville"/>
      <p:regular r:id="rId20"/>
    </p:embeddedFont>
    <p:embeddedFont>
      <p:font typeface="Open Sans"/>
      <p:regular r:id="rId21"/>
    </p:embeddedFont>
    <p:embeddedFont>
      <p:font typeface="Open Sans"/>
      <p:regular r:id="rId22"/>
    </p:embeddedFont>
    <p:embeddedFont>
      <p:font typeface="Open Sans"/>
      <p:regular r:id="rId23"/>
    </p:embeddedFont>
    <p:embeddedFont>
      <p:font typeface="Open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91527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3,900 purchases to uncover insights into spending patterns, customer segments, and product preferences that drive strategic business decisions.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82069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793790" y="30147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50520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transactional data analyzed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3407093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3407093" y="30147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Features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407093" y="3505200"/>
            <a:ext cx="23298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 demographics and shopping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020395" y="198298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50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6020395" y="3014782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Locations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020395" y="3505200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Geographic diversity across customer base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3407093" y="5160883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850"/>
              </a:lnSpc>
              <a:buNone/>
            </a:pPr>
            <a:r>
              <a:rPr lang="en-US" sz="58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25</a:t>
            </a:r>
            <a:endParaRPr lang="en-US" sz="5850" dirty="0"/>
          </a:p>
        </p:txBody>
      </p:sp>
      <p:sp>
        <p:nvSpPr>
          <p:cNvPr id="14" name="Text 11"/>
          <p:cNvSpPr/>
          <p:nvPr/>
        </p:nvSpPr>
        <p:spPr>
          <a:xfrm>
            <a:off x="3407093" y="6192679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Types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407093" y="6683097"/>
            <a:ext cx="23298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Diverse inventory across categories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4024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&amp; Python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02478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Cleaning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60592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dataset using pandas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048125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Review Rating values using median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853226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Standardized columns to snake case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658326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data consistency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3024783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342721" y="3605927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Created age_group column by binning customer ages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42721" y="4411028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Generated purchase_frequency_days from purchase data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55790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Dropped redundant promo_code_used column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638413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with PostgreSQL database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3396" y="697825"/>
            <a:ext cx="7484745" cy="649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Insights by Gender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213396" y="1658541"/>
            <a:ext cx="7690009" cy="2217301"/>
          </a:xfrm>
          <a:prstGeom prst="roundRect">
            <a:avLst>
              <a:gd name="adj" fmla="val 1405"/>
            </a:avLst>
          </a:prstGeom>
          <a:solidFill>
            <a:srgbClr val="403CCF"/>
          </a:solidFill>
          <a:ln/>
        </p:spPr>
      </p:sp>
      <p:sp>
        <p:nvSpPr>
          <p:cNvPr id="5" name="Text 2"/>
          <p:cNvSpPr/>
          <p:nvPr/>
        </p:nvSpPr>
        <p:spPr>
          <a:xfrm>
            <a:off x="6421041" y="1866186"/>
            <a:ext cx="7167086" cy="8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50"/>
              </a:lnSpc>
              <a:buNone/>
            </a:pPr>
            <a:r>
              <a:rPr lang="en-US" sz="56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$157,890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6421041" y="2886670"/>
            <a:ext cx="259675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Male Customers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421041" y="3335774"/>
            <a:ext cx="7274719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68% of total revenue generated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213396" y="4083487"/>
            <a:ext cx="7690009" cy="2217301"/>
          </a:xfrm>
          <a:prstGeom prst="roundRect">
            <a:avLst>
              <a:gd name="adj" fmla="val 1405"/>
            </a:avLst>
          </a:prstGeom>
          <a:solidFill>
            <a:srgbClr val="E7E0FF"/>
          </a:solidFill>
          <a:ln/>
        </p:spPr>
      </p:sp>
      <p:sp>
        <p:nvSpPr>
          <p:cNvPr id="9" name="Text 6"/>
          <p:cNvSpPr/>
          <p:nvPr/>
        </p:nvSpPr>
        <p:spPr>
          <a:xfrm>
            <a:off x="6421041" y="4291132"/>
            <a:ext cx="7167086" cy="895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05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$75,191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6421041" y="5311616"/>
            <a:ext cx="2596753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Female Customers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421041" y="5760720"/>
            <a:ext cx="7274719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32% of total revenue generated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213396" y="6534388"/>
            <a:ext cx="7690009" cy="997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drive significantly higher revenue, representing a key demographic for targeted marketing campaigns and product development strategies.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768536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 Strategy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Spenders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49510"/>
            <a:ext cx="760428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839 customers used discounts but still spent above the average purchase amount of $59.76. This segment represents savvy shoppers who seek value without compromising on quality.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65032"/>
            <a:ext cx="44143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Discount-Dependent Products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64617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1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 (50% discount rate)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088374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 (49.66%)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530572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 (49.07%)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97277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 (48.17%)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93790" y="641496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Font typeface="+mj-lt"/>
              <a:buAutoNum type="arabicPeriod" startAt="5"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 (47.37%)</a:t>
            </a:r>
            <a:endParaRPr lang="en-US" sz="17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11900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14468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83988"/>
            <a:ext cx="4196358" cy="12192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688" y="2074307"/>
            <a:ext cx="680442" cy="68044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55761" y="224444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1051084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Gloves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51084" y="347186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3.86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2414468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962" y="2383988"/>
            <a:ext cx="4196358" cy="12192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860" y="2074307"/>
            <a:ext cx="680442" cy="68044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78933" y="224444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5474256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Sandals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5474256" y="347186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3.84</a:t>
            </a:r>
            <a:endParaRPr lang="en-US" sz="1750" dirty="0"/>
          </a:p>
        </p:txBody>
      </p:sp>
      <p:sp>
        <p:nvSpPr>
          <p:cNvPr id="15" name="Shape 9"/>
          <p:cNvSpPr/>
          <p:nvPr/>
        </p:nvSpPr>
        <p:spPr>
          <a:xfrm>
            <a:off x="9640133" y="2414468"/>
            <a:ext cx="4196358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0133" y="2383988"/>
            <a:ext cx="4196358" cy="12192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98032" y="2074307"/>
            <a:ext cx="680442" cy="68044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02105" y="2244447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100" dirty="0"/>
          </a:p>
        </p:txBody>
      </p:sp>
      <p:sp>
        <p:nvSpPr>
          <p:cNvPr id="19" name="Text 11"/>
          <p:cNvSpPr/>
          <p:nvPr/>
        </p:nvSpPr>
        <p:spPr>
          <a:xfrm>
            <a:off x="9897427" y="2981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Boots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9897427" y="3471863"/>
            <a:ext cx="368177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3.82</a:t>
            </a:r>
            <a:endParaRPr lang="en-US" sz="1750" dirty="0"/>
          </a:p>
        </p:txBody>
      </p:sp>
      <p:sp>
        <p:nvSpPr>
          <p:cNvPr id="21" name="Shape 13"/>
          <p:cNvSpPr/>
          <p:nvPr/>
        </p:nvSpPr>
        <p:spPr>
          <a:xfrm>
            <a:off x="793790" y="4659035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790" y="4628555"/>
            <a:ext cx="6407944" cy="121920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540" y="4318873"/>
            <a:ext cx="680442" cy="68044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61614" y="448901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100" dirty="0"/>
          </a:p>
        </p:txBody>
      </p:sp>
      <p:sp>
        <p:nvSpPr>
          <p:cNvPr id="25" name="Text 15"/>
          <p:cNvSpPr/>
          <p:nvPr/>
        </p:nvSpPr>
        <p:spPr>
          <a:xfrm>
            <a:off x="1051084" y="5226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Hat</a:t>
            </a:r>
            <a:endParaRPr lang="en-US" sz="2200" dirty="0"/>
          </a:p>
        </p:txBody>
      </p:sp>
      <p:sp>
        <p:nvSpPr>
          <p:cNvPr id="26" name="Text 16"/>
          <p:cNvSpPr/>
          <p:nvPr/>
        </p:nvSpPr>
        <p:spPr>
          <a:xfrm>
            <a:off x="1051084" y="571642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3.80</a:t>
            </a:r>
            <a:endParaRPr lang="en-US" sz="1750" dirty="0"/>
          </a:p>
        </p:txBody>
      </p:sp>
      <p:sp>
        <p:nvSpPr>
          <p:cNvPr id="27" name="Shape 17"/>
          <p:cNvSpPr/>
          <p:nvPr/>
        </p:nvSpPr>
        <p:spPr>
          <a:xfrm>
            <a:off x="7428548" y="4659035"/>
            <a:ext cx="6407944" cy="1677591"/>
          </a:xfrm>
          <a:prstGeom prst="roundRect">
            <a:avLst>
              <a:gd name="adj" fmla="val 8721"/>
            </a:avLst>
          </a:prstGeom>
          <a:solidFill>
            <a:srgbClr val="FBFAFF"/>
          </a:solidFill>
          <a:ln/>
        </p:spPr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8548" y="4628555"/>
            <a:ext cx="6407944" cy="121920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92298" y="4318873"/>
            <a:ext cx="680442" cy="68044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496371" y="4489013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100" dirty="0"/>
          </a:p>
        </p:txBody>
      </p:sp>
      <p:sp>
        <p:nvSpPr>
          <p:cNvPr id="31" name="Text 19"/>
          <p:cNvSpPr/>
          <p:nvPr/>
        </p:nvSpPr>
        <p:spPr>
          <a:xfrm>
            <a:off x="7685842" y="52260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Skirt</a:t>
            </a:r>
            <a:endParaRPr lang="en-US" sz="2200" dirty="0"/>
          </a:p>
        </p:txBody>
      </p:sp>
      <p:sp>
        <p:nvSpPr>
          <p:cNvPr id="32" name="Text 20"/>
          <p:cNvSpPr/>
          <p:nvPr/>
        </p:nvSpPr>
        <p:spPr>
          <a:xfrm>
            <a:off x="7685842" y="5716429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Average rating: 3.78</a:t>
            </a:r>
            <a:endParaRPr lang="en-US" sz="1750" dirty="0"/>
          </a:p>
        </p:txBody>
      </p:sp>
      <p:sp>
        <p:nvSpPr>
          <p:cNvPr id="33" name="Text 21"/>
          <p:cNvSpPr/>
          <p:nvPr/>
        </p:nvSpPr>
        <p:spPr>
          <a:xfrm>
            <a:off x="793790" y="659177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These top-rated products should be prominently featured in marketing campaigns to leverage customer satisfaction and drive sales.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25962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78348" y="2188369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804398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415183"/>
            <a:ext cx="142886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2905601"/>
            <a:ext cx="142886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83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508415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2381" y="3551992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006096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778806"/>
            <a:ext cx="155852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269224"/>
            <a:ext cx="155852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701 customers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4872038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D0CED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294" y="4915614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36971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142428"/>
            <a:ext cx="174676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632847"/>
            <a:ext cx="17467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3,116 customers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477714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majority of customers (80%) fall into the Loyal segment, demonstrating strong customer retention. Focus on converting New and Returning customers into Loyal buyers through targeted engagement strategies.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6969" y="407670"/>
            <a:ext cx="5291971" cy="4616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Status Analysis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2917508" y="2216825"/>
            <a:ext cx="1816775" cy="369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27%</a:t>
            </a:r>
            <a:endParaRPr lang="en-US" sz="2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18197" y="1293733"/>
            <a:ext cx="2215634" cy="22156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02744" y="3693914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Subscribers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16969" y="4072295"/>
            <a:ext cx="66180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 customers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917508" y="5564029"/>
            <a:ext cx="1816775" cy="3692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00"/>
              </a:lnSpc>
              <a:buNone/>
            </a:pPr>
            <a:r>
              <a:rPr lang="en-US" sz="29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73%</a:t>
            </a:r>
            <a:endParaRPr lang="en-US" sz="29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8197" y="4640937"/>
            <a:ext cx="2215634" cy="22156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02744" y="7041118"/>
            <a:ext cx="1846421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Non-Subscribers</a:t>
            </a:r>
            <a:endParaRPr lang="en-US" sz="1450" dirty="0"/>
          </a:p>
        </p:txBody>
      </p:sp>
      <p:sp>
        <p:nvSpPr>
          <p:cNvPr id="10" name="Text 6"/>
          <p:cNvSpPr/>
          <p:nvPr/>
        </p:nvSpPr>
        <p:spPr>
          <a:xfrm>
            <a:off x="516969" y="7419499"/>
            <a:ext cx="66180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 customers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7502962" y="1238369"/>
            <a:ext cx="2048113" cy="230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Comparison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7502962" y="1616750"/>
            <a:ext cx="66180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Subscribers: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$59.49 avg spend, $62,645 total revenue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7502962" y="1985962"/>
            <a:ext cx="6618089" cy="2363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b="1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Non-Subscribers:</a:t>
            </a:r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$59.87 avg spend, $170,436 total revenue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7502962" y="2355175"/>
            <a:ext cx="6618089" cy="4726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While average spend is similar, non-subscribers generate more total revenue due to larger volume. Opportunity to convert more customers to subscriptions.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6138" y="421243"/>
            <a:ext cx="4509849" cy="47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Age Group</a:t>
            </a:r>
            <a:endParaRPr lang="en-US" sz="30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138" y="1206341"/>
            <a:ext cx="13558123" cy="759249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6138" y="8971121"/>
            <a:ext cx="13558123" cy="490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generation, followed closely by Middle-aged customers. Marketing efforts should prioritize these high-value segments while exploring growth opportunities in Adult and Senior demographics.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1974" y="435054"/>
            <a:ext cx="5700474" cy="4926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551974" y="1164193"/>
            <a:ext cx="8040053" cy="153935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sp>
        <p:nvSpPr>
          <p:cNvPr id="5" name="Shape 2"/>
          <p:cNvSpPr/>
          <p:nvPr/>
        </p:nvSpPr>
        <p:spPr>
          <a:xfrm>
            <a:off x="709613" y="1321832"/>
            <a:ext cx="473035" cy="473035"/>
          </a:xfrm>
          <a:prstGeom prst="roundRect">
            <a:avLst>
              <a:gd name="adj" fmla="val 19328560"/>
            </a:avLst>
          </a:prstGeom>
          <a:solidFill>
            <a:srgbClr val="403CCF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9629" y="1451848"/>
            <a:ext cx="212884" cy="2128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09613" y="1952506"/>
            <a:ext cx="2003227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09613" y="2293501"/>
            <a:ext cx="772477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benefits to convert the 73% non-subscriber base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51974" y="2861191"/>
            <a:ext cx="8040053" cy="153935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sp>
        <p:nvSpPr>
          <p:cNvPr id="10" name="Shape 6"/>
          <p:cNvSpPr/>
          <p:nvPr/>
        </p:nvSpPr>
        <p:spPr>
          <a:xfrm>
            <a:off x="709613" y="3018830"/>
            <a:ext cx="473035" cy="473035"/>
          </a:xfrm>
          <a:prstGeom prst="roundRect">
            <a:avLst>
              <a:gd name="adj" fmla="val 19328560"/>
            </a:avLst>
          </a:prstGeom>
          <a:solidFill>
            <a:srgbClr val="E7E0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9629" y="3148846"/>
            <a:ext cx="212884" cy="2128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9613" y="3649504"/>
            <a:ext cx="1971318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709613" y="3990499"/>
            <a:ext cx="772477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strengthen the Loyal segment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51974" y="4558189"/>
            <a:ext cx="8040053" cy="153935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sp>
        <p:nvSpPr>
          <p:cNvPr id="15" name="Shape 10"/>
          <p:cNvSpPr/>
          <p:nvPr/>
        </p:nvSpPr>
        <p:spPr>
          <a:xfrm>
            <a:off x="709613" y="4715828"/>
            <a:ext cx="473035" cy="473035"/>
          </a:xfrm>
          <a:prstGeom prst="roundRect">
            <a:avLst>
              <a:gd name="adj" fmla="val 19328560"/>
            </a:avLst>
          </a:prstGeom>
          <a:solidFill>
            <a:srgbClr val="F7F5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9629" y="4845844"/>
            <a:ext cx="212884" cy="2128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09613" y="5346502"/>
            <a:ext cx="2016800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Optimize Discounts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709613" y="5687497"/>
            <a:ext cx="772477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promotional sales with margin control strategies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551974" y="6255187"/>
            <a:ext cx="8040053" cy="1539359"/>
          </a:xfrm>
          <a:prstGeom prst="roundRect">
            <a:avLst>
              <a:gd name="adj" fmla="val 1537"/>
            </a:avLst>
          </a:prstGeom>
          <a:solidFill>
            <a:srgbClr val="EAE8F3"/>
          </a:solidFill>
          <a:ln/>
        </p:spPr>
      </p:sp>
      <p:sp>
        <p:nvSpPr>
          <p:cNvPr id="20" name="Shape 14"/>
          <p:cNvSpPr/>
          <p:nvPr/>
        </p:nvSpPr>
        <p:spPr>
          <a:xfrm>
            <a:off x="709613" y="6412825"/>
            <a:ext cx="473035" cy="473035"/>
          </a:xfrm>
          <a:prstGeom prst="roundRect">
            <a:avLst>
              <a:gd name="adj" fmla="val 19328560"/>
            </a:avLst>
          </a:prstGeom>
          <a:solidFill>
            <a:srgbClr val="403CCF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629" y="6542842"/>
            <a:ext cx="212884" cy="2128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9613" y="7043499"/>
            <a:ext cx="1988225" cy="246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50" dirty="0"/>
          </a:p>
        </p:txBody>
      </p:sp>
      <p:sp>
        <p:nvSpPr>
          <p:cNvPr id="23" name="Text 16"/>
          <p:cNvSpPr/>
          <p:nvPr/>
        </p:nvSpPr>
        <p:spPr>
          <a:xfrm>
            <a:off x="709613" y="7384494"/>
            <a:ext cx="7724775" cy="252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2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2025-12-21T04:45:01Z</dcterms:created>
  <dcterms:modified xsi:type="dcterms:W3CDTF">2025-12-21T04:45:01Z</dcterms:modified>
</cp:coreProperties>
</file>